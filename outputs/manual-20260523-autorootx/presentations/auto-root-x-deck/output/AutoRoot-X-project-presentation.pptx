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60ec34e3d425d" /><Relationship Type="http://schemas.openxmlformats.org/officeDocument/2006/relationships/extended-properties" Target="/docProps/app.xml" Id="Rc007169461924348" /><Relationship Type="http://schemas.openxmlformats.org/officeDocument/2006/relationships/officeDocument" Target="/ppt/presentation.xml" Id="Rb0480fcbe1fa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09f16a42e4663"/>
  </p:sldMasterIdLst>
  <p:notesMasterIdLst>
    <p:notesMasterId xmlns:r="http://schemas.openxmlformats.org/officeDocument/2006/relationships" r:id="Rb0772ebfdac349b1"/>
  </p:notesMasterIdLst>
  <p:sldIdLst>
    <p:sldId xmlns:r="http://schemas.openxmlformats.org/officeDocument/2006/relationships" id="256" r:id="R8b9ca0600a7447bf"/>
    <p:sldId xmlns:r="http://schemas.openxmlformats.org/officeDocument/2006/relationships" id="257" r:id="Rab70d7426e9b4f29"/>
    <p:sldId xmlns:r="http://schemas.openxmlformats.org/officeDocument/2006/relationships" id="258" r:id="R76881bbe58cb4113"/>
    <p:sldId xmlns:r="http://schemas.openxmlformats.org/officeDocument/2006/relationships" id="259" r:id="Ra033e0e38e6f4f87"/>
    <p:sldId xmlns:r="http://schemas.openxmlformats.org/officeDocument/2006/relationships" id="260" r:id="Rc81bf125308a4fa1"/>
    <p:sldId xmlns:r="http://schemas.openxmlformats.org/officeDocument/2006/relationships" id="261" r:id="R00ab5596274244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09f16a42e4663" /><Relationship Type="http://schemas.openxmlformats.org/officeDocument/2006/relationships/theme" Target="/ppt/theme/theme1.xml" Id="Rc83eaeae3fd94bfb" /><Relationship Type="http://schemas.openxmlformats.org/officeDocument/2006/relationships/notesMaster" Target="/ppt/notesMasters/notesMaster1.xml" Id="Rb0772ebfdac349b1" /><Relationship Type="http://schemas.openxmlformats.org/officeDocument/2006/relationships/presProps" Target="/ppt/presProps.xml" Id="Rd2015a6caabc42c2" /><Relationship Type="http://schemas.openxmlformats.org/officeDocument/2006/relationships/viewProps" Target="/ppt/viewProps.xml" Id="Rdd5a34d7890f461d" /><Relationship Type="http://schemas.openxmlformats.org/officeDocument/2006/relationships/tableStyles" Target="/ppt/tableStyles.xml" Id="R741d475ec0274e69" /><Relationship Type="http://schemas.openxmlformats.org/officeDocument/2006/relationships/slide" Target="/ppt/slides/slide1.xml" Id="R8b9ca0600a7447bf" /><Relationship Type="http://schemas.openxmlformats.org/officeDocument/2006/relationships/slide" Target="/ppt/slides/slide2.xml" Id="Rab70d7426e9b4f29" /><Relationship Type="http://schemas.openxmlformats.org/officeDocument/2006/relationships/slide" Target="/ppt/slides/slide3.xml" Id="R76881bbe58cb4113" /><Relationship Type="http://schemas.openxmlformats.org/officeDocument/2006/relationships/slide" Target="/ppt/slides/slide4.xml" Id="Ra033e0e38e6f4f87" /><Relationship Type="http://schemas.openxmlformats.org/officeDocument/2006/relationships/slide" Target="/ppt/slides/slide5.xml" Id="Rc81bf125308a4fa1" /><Relationship Type="http://schemas.openxmlformats.org/officeDocument/2006/relationships/slide" Target="/ppt/slides/slide6.xml" Id="R00ab55962742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767546a1bb41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5132de4fe44f4" /><Relationship Type="http://schemas.openxmlformats.org/officeDocument/2006/relationships/notesMaster" Target="/ppt/notesMasters/notesMaster1.xml" Id="Rb08cbf32f5bf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e7714296f84f53" /><Relationship Type="http://schemas.openxmlformats.org/officeDocument/2006/relationships/notesMaster" Target="/ppt/notesMasters/notesMaster1.xml" Id="R0f28a115233c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d911e6fd14d34" /><Relationship Type="http://schemas.openxmlformats.org/officeDocument/2006/relationships/notesMaster" Target="/ppt/notesMasters/notesMaster1.xml" Id="Rde48c6392994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b5f36b741b473d" /><Relationship Type="http://schemas.openxmlformats.org/officeDocument/2006/relationships/notesMaster" Target="/ppt/notesMasters/notesMaster1.xml" Id="R9b7c6e1fc8e842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fd07f1d7c4da6" /><Relationship Type="http://schemas.openxmlformats.org/officeDocument/2006/relationships/notesMaster" Target="/ppt/notesMasters/notesMaster1.xml" Id="R40786819b2c544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aa2cf746be4b31" /><Relationship Type="http://schemas.openxmlformats.org/officeDocument/2006/relationships/notesMaster" Target="/ppt/notesMasters/notesMaster1.xml" Id="R40406c47cbb9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12f510d8d49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1a052dd77d4e79" /><Relationship Type="http://schemas.openxmlformats.org/officeDocument/2006/relationships/slideLayout" Target="/ppt/slideLayouts/slideLayout2.xml" Id="R43c701e2bf59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c701e2bf59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d4f036223474c" /><Relationship Type="http://schemas.openxmlformats.org/officeDocument/2006/relationships/notesSlide" Target="/ppt/notesSlides/notesSlide1.xml" Id="R9df81a2ba8f740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9c8652050406b" /><Relationship Type="http://schemas.openxmlformats.org/officeDocument/2006/relationships/notesSlide" Target="/ppt/notesSlides/notesSlide2.xml" Id="Rf78058f4198b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27bde313b4935" /><Relationship Type="http://schemas.openxmlformats.org/officeDocument/2006/relationships/notesSlide" Target="/ppt/notesSlides/notesSlide3.xml" Id="Re3241cf66a80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9c018ad7146a0" /><Relationship Type="http://schemas.openxmlformats.org/officeDocument/2006/relationships/notesSlide" Target="/ppt/notesSlides/notesSlide4.xml" Id="Rf6798b73775c47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b09d72ff34b54" /><Relationship Type="http://schemas.openxmlformats.org/officeDocument/2006/relationships/notesSlide" Target="/ppt/notesSlides/notesSlide5.xml" Id="R0993fdd10e264f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2ba54d7e740a7" /><Relationship Type="http://schemas.openxmlformats.org/officeDocument/2006/relationships/notesSlide" Target="/ppt/notesSlides/notesSlide6.xml" Id="R6a3602f016f8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EC8AE-3BAF-47DC-88EC-FCD5A2A7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1B76-8C8A-4EB1-BFF6-9A57168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19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96DBD-4111-4AB8-A535-52AA64E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668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3DFF7-76A3-4669-B354-D6AF608F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1557-01E5-411A-B509-61D51FE0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AutoRoot-x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61889-2ED1-422C-B22F-B742A5F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6858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A900A-B97E-4E95-96D2-DAAB5C47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7239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950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AI-powered cloud reliability and security root-cause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39B50-E361-4663-B0C7-A97FB14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333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33"/>
          </a:solidFill>
          <a:ln xmlns:a="http://schemas.openxmlformats.org/drawingml/2006/main" w="13335">
            <a:solidFill>
              <a:srgbClr val="2C485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Participants</a:t>
            </a:r>
          </a:p>
          <a:p xmlns:a="http://schemas.openxmlformats.org/drawingml/2006/main">
            <a:pPr algn="ctr"/>
            <a:r>
              <a:rPr sz="1125" b="0">
                <a:solidFill>
                  <a:srgbClr val="C7D3D7"/>
                </a:solidFill>
                <a:latin typeface="Aptos"/>
                <a:ea typeface="Aptos"/>
                <a:cs typeface="Aptos"/>
              </a:rPr>
              <a:t>Ashutosh and Kajal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B1F60-42DC-4F6C-B541-F3BD31B3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714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733"/>
          </a:solidFill>
          <a:ln xmlns:a="http://schemas.openxmlformats.org/drawingml/2006/main" w="13335">
            <a:solidFill>
              <a:srgbClr val="2C485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Focus</a:t>
            </a:r>
          </a:p>
          <a:p xmlns:a="http://schemas.openxmlformats.org/drawingml/2006/main">
            <a:pPr algn="ctr"/>
            <a:r>
              <a:rPr sz="1125" b="0">
                <a:solidFill>
                  <a:srgbClr val="C7D3D7"/>
                </a:solidFill>
                <a:latin typeface="Aptos"/>
                <a:ea typeface="Aptos"/>
                <a:cs typeface="Aptos"/>
              </a:rPr>
              <a:t>Cloud evidence -&gt; AI diagnosis -&gt; remediation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14055-A526-4D4A-9F0B-ABA092D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050" b="0">
                <a:solidFill>
                  <a:srgbClr val="A8BAC1"/>
                </a:solidFill>
                <a:latin typeface="Aptos"/>
                <a:ea typeface="Aptos"/>
                <a:cs typeface="Aptos"/>
              </a:rPr>
              <a:t>Hackathon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59591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3B112-1CDF-45C4-B587-0F46EC9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75" b="1">
                <a:solidFill>
                  <a:srgbClr val="10A6A0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12347-D3F2-45CB-A63A-5E8726F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5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Cloud incidents need evidence, not guesswork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2673B-681B-4D7D-B4E8-096D8BD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0DAA0-E8F7-46D3-86DE-DCD1CA45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14500-0FD3-4DAA-99B7-4D031EB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15073-B3F3-4413-97E7-366A771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219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2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Signals are scattered</a:t>
            </a:r>
          </a:p>
          <a:p xmlns:a="http://schemas.openxmlformats.org/drawingml/2006/main">
            <a:pPr algn="ctr"/>
            <a:r>
              <a:rPr sz="112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Logs, traces, image CVEs, OSS advisories and GKE health live in separate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13096-DB54-48F2-A1FF-51807B22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CD585-44FF-4CC8-A6D3-87CDC31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219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2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Triage is slow</a:t>
            </a:r>
          </a:p>
          <a:p xmlns:a="http://schemas.openxmlformats.org/drawingml/2006/main">
            <a:pPr algn="ctr"/>
            <a:r>
              <a:rPr sz="112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Operators manually decide what to inspect before they can explain root cause.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4AB2A-F73F-4103-BE3D-B5B5772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3BF81-F4BF-495B-B8F7-6160E68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219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E2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AI needs guardrails</a:t>
            </a:r>
          </a:p>
          <a:p xmlns:a="http://schemas.openxmlformats.org/drawingml/2006/main">
            <a:pPr algn="ctr"/>
            <a:r>
              <a:rPr sz="112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Gemini summaries are useful only when grounded in repeatable source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A95F2-BBF5-48AF-8BAD-881EC8F5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24D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73F00-C50F-42C3-814F-0ABD1C75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8572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8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AutoRoot-X acts as the control plane that routes the problem, gathers evidence, and asks Vertex AI/Gemini for a concise remediation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87D72-609C-4AE2-889B-E26F5FC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69AB7-7D14-4080-82C5-17014307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24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24D"/>
          </a:solidFill>
          <a:ln xmlns:a="http://schemas.openxmlformats.org/drawingml/2006/main" w="13335">
            <a:solidFill>
              <a:srgbClr val="E0524D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Container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495E9-3777-4C1E-BD15-0FDE2518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13335">
            <a:solidFill>
              <a:srgbClr val="7A5AF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OSS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5D85F-B398-40CC-B01B-EF974247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ServiceNow handoff</a:t>
            </a:r>
          </a:p>
        </p:txBody>
      </p:sp>
    </p:spTree>
    <p:extLst>
      <p:ext uri="{BB962C8B-B14F-4D97-AF65-F5344CB8AC3E}">
        <p14:creationId xmlns:p14="http://schemas.microsoft.com/office/powerpoint/2010/main" val="1417973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C3E07-6CCD-46DB-A21B-0DA057C4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75" b="1">
                <a:solidFill>
                  <a:srgbClr val="10A6A0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62EEF-5176-48C3-8684-3FE6B57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5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 plugin-first control plane over GCP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074B-802C-492E-B139-2152C56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5D2C3-CD3B-40A0-9C72-72BBA938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0BBD-7B62-4F0D-8E20-F27BF7F9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CB15A-51DE-4C13-869C-A643D53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React + TS UI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Dashboard, Agent, Logs, Image, 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AC520-8AE0-4C20-9B18-CB044B94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EB942-1595-485B-B8A4-8BF8EDB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67100" y="24003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6E285-E510-4A8A-99D8-58CED82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2171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Spring Boot API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Analyzer registry and 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106ED-6A2A-49AC-87CB-E53E1913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38B8-0AD7-42B0-855F-BB2A4AB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24003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3CF2D-BD8D-49E1-AF7E-0A4B6EC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Evidence Sources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Cloud Logging, Monitoring, Trace, SCC, Artifact Analysis, GKE, OSV, deps.dev, Trivy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4C1C7-27A6-44C6-A71F-A1E34C7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BFE09-EFC8-42FA-A47B-18C6317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29850" y="24003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05840-119A-4E2F-9BF1-F19997F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43100"/>
            <a:ext cx="1200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6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Vertex AI / Gemini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Root-cause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95A39-91DE-4931-A18B-FDEAC835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EE3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EA3A3-C539-4788-B240-0D5F3D16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680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A"/>
          </a:solidFill>
          <a:ln xmlns:a="http://schemas.openxmlformats.org/drawingml/2006/main" w="13335">
            <a:solidFill>
              <a:srgbClr val="10202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contract</a:t>
            </a:r>
          </a:p>
          <a:p xmlns:a="http://schemas.openxmlformats.org/drawingml/2006/main">
            <a:pPr algn="ctr"/>
            <a:r>
              <a:rPr sz="1275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severity + confidence + root cause + impact + recommended 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9B3C5-9D7C-4702-BCC8-BEF3C5A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102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ServiceNow incident draft</a:t>
            </a:r>
          </a:p>
        </p:txBody>
      </p:sp>
    </p:spTree>
    <p:extLst>
      <p:ext uri="{BB962C8B-B14F-4D97-AF65-F5344CB8AC3E}">
        <p14:creationId xmlns:p14="http://schemas.microsoft.com/office/powerpoint/2010/main" val="1333106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1BE31-8BAF-4901-B794-5198A6BF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75" b="1">
                <a:solidFill>
                  <a:srgbClr val="10A6A0"/>
                </a:solidFill>
                <a:latin typeface="Aptos"/>
                <a:ea typeface="Aptos"/>
                <a:cs typeface="Aptos"/>
              </a:rPr>
              <a:t>ORCHESTRATION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F466B-B2D7-4FA9-8611-285D8D4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5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Auto mode turns one problem into targeted analyzers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0DDC3-9047-491E-9144-A66212E8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00E38-6660-4851-8D82-487C6F1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7CBC2-1F39-4F84-AC87-08DE748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1642-F360-49A6-AE3E-AEB6DE9D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D6D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Problem payload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plain-language issue +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06D96-3174-4591-B949-F83E3DD3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93669-6694-46D7-88CA-08ED74B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05150" y="2457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565BC-6A20-465F-A03C-F36BFB04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Hint classifier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keywords and payload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5EFD-19B3-44B5-BAFC-FEE8C24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527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F2816-D317-47CE-B54B-50417F77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00750" y="2457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E2B01-7D57-4564-8352-00C9BEF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A5AF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Analyzer registry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LOGS / IMAGE / OSS / custom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1B99A-F57B-4489-ACA1-1BFF54B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86523-2D22-4C5A-9145-CBACD554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91600" y="2457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9E369-05FA-4738-A685-5715C1C9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Evidence bundle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merged findings and warnings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19B47-1E3E-4D9A-88B7-0763F0D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D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34A29-E94E-4525-97F7-67E1F2D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00500"/>
            <a:ext cx="318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 mode: user chooses a single analyzer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008A-EA70-49EF-8115-E946B15B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394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 mode: classifier selects the right analyzer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98471-89DD-4514-8B80-81F89EA6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72050"/>
            <a:ext cx="8191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sz="18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Output is standardized so the UI and ServiceNow draft can consume the same result object.</a:t>
            </a:r>
          </a:p>
        </p:txBody>
      </p:sp>
    </p:spTree>
    <p:extLst>
      <p:ext uri="{BB962C8B-B14F-4D97-AF65-F5344CB8AC3E}">
        <p14:creationId xmlns:p14="http://schemas.microsoft.com/office/powerpoint/2010/main" val="56976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CFF2A-1F2E-4FCC-B4B8-307D02B7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75" b="1">
                <a:solidFill>
                  <a:srgbClr val="10A6A0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3A256-A305-44EF-A7B7-CFF18A6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5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Operators get a focused triage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417B2-5CF6-4B3F-B3F4-62849B9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66357-2796-427F-A8F8-624CAD6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CC0C3-1DBE-4662-827B-F767A48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B1DA1-FAB4-412D-9E60-011C2C8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Plugin counts, active analyzers, quick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529CD-94C8-4F35-A56F-52EE8F5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Agent Triage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 or manual tool selection with 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40CF2-23D1-4AC3-9365-D2D510ED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0524D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Security Scans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Container image and open-source dependency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C0ABF-E6E3-470E-9030-609983C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A5AF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Admin Plugins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Enable, disable, and inspect analyzer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923D3-BBD3-4F94-9FCC-07696097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5717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72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Expected result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429E0-4F2A-4F45-B173-CB96703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BA172-6038-4EDA-839D-084B241E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9B012-8733-4262-8421-3A0430C5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84B69-F8CB-4387-A5FF-A6FE642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65E1C-2820-4B37-B509-EC8A368E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C13EA-94E7-4D49-83EC-7FA9593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B1CDF-6F2C-4960-B58D-04D1EB1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9BF53-D387-4164-8E34-1F0B2967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Recommended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99376-F64F-4B30-8233-A95F41FC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1BE48-A3ED-467C-A481-5A683458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Severity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4C711-67D5-46D5-8613-4E6A6A64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48B26-2E1D-4CE4-A4EE-20F8A205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9585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E6860-9FA1-414F-A38C-28A2C67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5B11F-D235-490A-8728-C0EA0C2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3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Vulnerabilities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11517-0920-4916-BDE3-922FB98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81650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13335">
            <a:solidFill>
              <a:srgbClr val="0B172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analysis contract across UI, API, and incident handoff</a:t>
            </a:r>
          </a:p>
        </p:txBody>
      </p:sp>
    </p:spTree>
    <p:extLst>
      <p:ext uri="{BB962C8B-B14F-4D97-AF65-F5344CB8AC3E}">
        <p14:creationId xmlns:p14="http://schemas.microsoft.com/office/powerpoint/2010/main" val="332393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FB58C-9DA4-4CB2-9B06-0B5AF40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75" b="1">
                <a:solidFill>
                  <a:srgbClr val="10A6A0"/>
                </a:solidFill>
                <a:latin typeface="Aptos"/>
                <a:ea typeface="Aptos"/>
                <a:cs typeface="Aptos"/>
              </a:rPr>
              <a:t>DEPLOYMENT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5E5B6-4011-4D5E-9CE1-9D6DBC67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55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Ready for GCP-native operation with a clear evolution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A8F16-347A-4825-9DD4-207BCF16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CA8A4-9466-435A-99BA-BE31F4C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AutoRoot-X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CA632-B533-49E9-96A0-AB26C174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/>
            <a:r>
              <a:rPr sz="90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D9FFC-3CA2-4B6A-B884-458C157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GitHub Actions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manual workflows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1D905-A854-4E5F-B500-19062CA9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CBEB5-5E5D-45E7-A980-C114CA8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8050" y="2076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9F6DD-0792-4D15-90E5-D0FD8E7B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526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Terraform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APIs, VPC, GKE, IAM, state bucket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5E1CD-8FDE-49E9-9D83-0285B72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24291-6FA8-40E4-87AF-3DE7DE0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0350" y="2076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E6344-9771-4086-9D8B-6DA8FD7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57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Helm on GKE</a:t>
            </a:r>
          </a:p>
          <a:p xmlns:a="http://schemas.openxmlformats.org/drawingml/2006/main">
            <a:pPr algn="ctr"/>
            <a:r>
              <a:rPr sz="1050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backend, frontend, secrets, HPA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1C533-801A-42A4-AFAE-9F6D6BF1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F21E7-C51C-40AE-B64D-08684B8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39300" y="20764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5F04-FDBF-4135-B97C-94A1877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52600"/>
            <a:ext cx="1466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4A62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425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Runtime</a:t>
            </a:r>
          </a:p>
          <a:p xmlns:a="http://schemas.openxmlformats.org/drawingml/2006/main">
            <a:pPr algn="ctr"/>
            <a:r>
              <a:rPr sz="975" b="0">
                <a:solidFill>
                  <a:srgbClr val="5C6B73"/>
                </a:solidFill>
                <a:latin typeface="Aptos"/>
                <a:ea typeface="Aptos"/>
                <a:cs typeface="Aptos"/>
              </a:rPr>
              <a:t>Vertex AI + ServiceNow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CEE43-DD8B-48AF-933F-98F0E61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095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800" b="1">
                <a:solidFill>
                  <a:srgbClr val="10202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1F9C3-98AE-4F28-A0FC-38494D2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13335">
            <a:solidFill>
              <a:srgbClr val="2F6FD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188D1-E15B-4D01-8EA7-54F9F728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876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275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Add real collectors for Cloud Logging, Monitoring, SCC, Artifact Analysis, GKE, OSV, deps.dev.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B4018-C5AC-4F40-80EE-46CE3E9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13335">
            <a:solidFill>
              <a:srgbClr val="25A56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D9696-5AD3-4FED-ACDF-14A270D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876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275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Standardize every analyzer into the shared evidence schema and retain source traceability.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1F784-6025-448B-BBBA-C3DE45F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0"/>
          </a:solidFill>
          <a:ln xmlns:a="http://schemas.openxmlformats.org/drawingml/2006/main" w="13335">
            <a:solidFill>
              <a:srgbClr val="10A6A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B5A71-6E69-47A4-8CA0-69E3B99D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876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275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Move from heuristic routing to a managed Vertex AI Agent/Gemini tool router when coverage is stable.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42409-AD25-4648-BC1F-014F0D9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13335">
            <a:solidFill>
              <a:srgbClr val="F4A62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AE1F3-81BA-46E4-AD71-9C1E182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95900"/>
            <a:ext cx="876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1275" b="0">
                <a:solidFill>
                  <a:srgbClr val="10202A"/>
                </a:solidFill>
                <a:latin typeface="Aptos"/>
                <a:ea typeface="Aptos"/>
                <a:cs typeface="Aptos"/>
              </a:rPr>
              <a:t>Add guardrails before automated remediation so fixes remain explainable and auditable.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96CBD-E37F-45B1-9D3B-8EAAAE5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A"/>
          </a:solidFill>
          <a:ln xmlns:a="http://schemas.openxmlformats.org/drawingml/2006/main" w="13335">
            <a:solidFill>
              <a:srgbClr val="10202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line</a:t>
            </a:r>
          </a:p>
          <a:p xmlns:a="http://schemas.openxmlformats.org/drawingml/2006/main">
            <a:pPr algn="ctr"/>
            <a:r>
              <a:rPr sz="1125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AutoRoot-X reduces triage time by turning scattered platform signals into a grounded fix plan.</a:t>
            </a:r>
          </a:p>
        </p:txBody>
      </p:sp>
    </p:spTree>
    <p:extLst>
      <p:ext uri="{BB962C8B-B14F-4D97-AF65-F5344CB8AC3E}">
        <p14:creationId xmlns:p14="http://schemas.microsoft.com/office/powerpoint/2010/main" val="1028742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2026-05-23T11:21:15.0100000Z</dcterms:created>
  <dcterms:modified xsi:type="dcterms:W3CDTF">2026-05-23T11:21:15.0100000Z</dcterms:modified>
</coreProperties>
</file>